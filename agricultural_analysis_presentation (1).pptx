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73152"/>
            <a:ext cx="3200400" cy="507034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Agricultural Sector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– 2024  |  Insights, Methodology &amp; Recommendations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53035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 Abd El-Rahman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Salah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 Ali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Shahd Mohamed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383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Shahd Mostafa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0" y="3383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Yasmin Mohamed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80760" y="320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Sections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749808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713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Introduction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1252728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216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1755648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719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Production Analysis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2258568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221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Water Analysis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2761488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&amp; Agriculture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3264408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227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Food Security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3767328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730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&amp; Natural Resources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4270248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4233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Analysis &amp; Prediction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160520"/>
            <a:ext cx="530352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519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480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Eng. Majed Magdy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Analyze Agricultural Data?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743200" cy="10972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production trends to ensure adequate food supply for growing populations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86868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868680"/>
            <a:ext cx="2743200" cy="10972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64408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irrigation and identify gaps between equipped vs. actually irrigated land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86868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868680"/>
            <a:ext cx="2743200" cy="10972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08776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Adaptation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08776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temperature &amp; rainfall patterns affect crop yields over time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80360"/>
            <a:ext cx="2743200" cy="10972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data-driven decisions for government investment in the agricultural sector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288036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880360"/>
            <a:ext cx="2743200" cy="10972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64408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CO₂ emissions, fertilizer use, and land share for eco-friendly farming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288036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2880360"/>
            <a:ext cx="2743200" cy="10972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08776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Planning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08776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regression models to forecast expected production from fertilizer inputs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Questions We Aimed to Answer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8503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crops dominate total agricultural production, and how has this changed over 24 years?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26464"/>
            <a:ext cx="5029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44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453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gap between equipped irrigation area and actually irrigated area — and is it widening?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65376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29968"/>
            <a:ext cx="5029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482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0574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temperature and rainfall patterns correlate with crop yield?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33472"/>
            <a:ext cx="5029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517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6090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food production keeping pace with population growth?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72384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236976"/>
            <a:ext cx="5029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552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2644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relationship between fertilizer use and total production?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675888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840480"/>
            <a:ext cx="5029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587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8679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sustainable is the agricultural sector in terms of CO₂ emissions and arable land share?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279392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443984"/>
            <a:ext cx="5029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62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47141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soil quality distribution across regions, and what does it mean for fertility?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Understanding Variables &amp; Relationships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023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40233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 Explored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total_production(t), SPLY, YoY Production 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379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39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Irrigated Area (ha), Equipped for Irrigation (ha), Share in Cropland 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140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615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Min_Temp, Max_Temp, new_tem_avg, average_rain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912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organic_ph, organic_carbon, Fertilizer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767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total_population, Production Per Capita (kg)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142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343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Emissions, Arable Land 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42976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822960"/>
            <a:ext cx="429768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8412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 Investigated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261872"/>
            <a:ext cx="64008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261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→ Production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499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linear correlation (r = 0.42); regression model built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956816"/>
            <a:ext cx="64008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568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→ Yield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analysis reveals weak positive trend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651760"/>
            <a:ext cx="64008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→ Production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8895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time series; productivity holds despite warming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346704"/>
            <a:ext cx="64008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3467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→ Production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Irrigated area growth aligns with output increases post-2015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4041648"/>
            <a:ext cx="64008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041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→ Per Capita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279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grew faster than population in early years, then declined per capita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Data Cleaning, Modeling &amp; Star Schema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50392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68680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804672"/>
            <a:ext cx="8138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859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Queries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115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datasets (crop production, irrigation, climate, soil) were merged using Power Query Append Queries — combining rows from different sources into a unified table without losing any subset.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06440" y="877824"/>
            <a:ext cx="3017520" cy="7315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896112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Enables cross-domain analysis on a single data model.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87452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89280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1828800"/>
            <a:ext cx="813816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883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Standardization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1396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were assigned correct types: dates → Date, production values → Decimal Number, region names → Text. Nulls and inconsistencies were handled.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06440" y="1901952"/>
            <a:ext cx="3017520" cy="7315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920240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Prevents calculation errors and ensures DAX measures work correctly.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898648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916936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2852928"/>
            <a:ext cx="8138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1638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Calendar Table was built (Year, Month, Quarter, YTD flags) and linked to fact tables via date keys.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06440" y="2926080"/>
            <a:ext cx="3017520" cy="7315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94436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Enables time intelligence functions like YoY%, Running Total, and SPLY.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922776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941064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3877056"/>
            <a:ext cx="813816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187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(production, irrigation, climate) connected to dimension tables (Crops, Regions, Calendar) via single-direction relationships.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06440" y="3950208"/>
            <a:ext cx="3017520" cy="7315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3968496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Optimizes query performance and ensures clean, unambiguous relationships in the data model.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DAX Measures —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51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64008" cy="7315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8321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total_production(t)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6616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agricultural output in metric tons across all crops and years.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51960" cy="73152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777240"/>
            <a:ext cx="64008" cy="7315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176" y="8321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SPLY (Same Period Last Year)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37176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value for the equivalent period in the previous year — used for YoY comparison.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1581912"/>
            <a:ext cx="4251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81912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163677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Production 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6616" y="18562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percentage change: (Current Year – SPLY) / SPLY × 100.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581912"/>
            <a:ext cx="4251960" cy="73152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581912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163677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Running_Year_total_production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37176" y="18562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production sum from the start of the dataset up to the selected year.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386584"/>
            <a:ext cx="4251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386584"/>
            <a:ext cx="64008" cy="7315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24414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 Production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6616" y="26609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DATEADD or SAMEPERIODLASTYEAR to return the prior year's production total.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386584"/>
            <a:ext cx="4251960" cy="73152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386584"/>
            <a:ext cx="64008" cy="7315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7176" y="24414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Per Capita (kg)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37176" y="26609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production divided by total population — measures agricultural output per person.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191256"/>
            <a:ext cx="4251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191256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" y="3246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Production_Trend_Line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6616" y="34655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regression line fitted across years to show the directional trend of production.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3191256"/>
            <a:ext cx="4251960" cy="73152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191256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3246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 Cropland 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37176" y="34655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Irrigated area as a percentage of total cropland — tracks irrigation coverage efficiency.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3995928"/>
            <a:ext cx="4251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3995928"/>
            <a:ext cx="64008" cy="7315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" y="40507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Fertilizer_Slope_m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56616" y="4270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coefficient from linear regression of Fertilizer Use vs. Production (m = 109.42K).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3995928"/>
            <a:ext cx="4251960" cy="73152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995928"/>
            <a:ext cx="64008" cy="7315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37176" y="40507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Fertilizer_Intercept_b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37176" y="4270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Y-intercept from the fertilizer-production regression model (b = 35.25M).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4800600"/>
            <a:ext cx="4251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4800600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48554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Correlation_Fertilizer_Production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" y="5074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coefficient between fertilizer use and total production (r = 0.42).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09160" y="4800600"/>
            <a:ext cx="4251960" cy="73152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4800600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37176" y="48554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Correlation_production_AVG_RAIN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37176" y="5074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coefficient between annual rainfall average and total production (r = 0.33).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Pages — Overview (1 of 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463040" cy="2743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86868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33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KPIs: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13385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Production: 2.32bn t | Irrigated Area: 106K ha | Avg Yield: 31M | Arable Land: 2.8%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Insight: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37160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 lead at 30.77% of total production. Production grew consistently from 2000 to 2024. Cereals and Fruits are the next largest segments.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6093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Recommendation: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0" y="160934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diversifying beyond vegetables; strengthen cereal yields to reduce import dependency.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194560"/>
            <a:ext cx="1463040" cy="2743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2128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Production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487168"/>
            <a:ext cx="86868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23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KPIs: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252374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% Change | Top Crops by Volume | Production by Crop Group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761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Insight: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276148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cane and Sugar beet dominate (top 2 crops). Production growth peaked in early 2010s. Vegetables show strongest consistent growth. Top 3 crops fluctuate year-to-year.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999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Recommendation: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99923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strategic crops (wheat, maize) with targeted subsidies to balance sugar-heavy portfolio.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584448"/>
            <a:ext cx="1463040" cy="2743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6027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Water Analysis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877056"/>
            <a:ext cx="86868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13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KPIs: 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39136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 Cropland: 2.39% | Actually Irrigated: 17.48K ha | Equipped: 88.10K ha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151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Insight: 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415137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80%+ gap exists between equipped and actually irrigated land. Share in cropland declined from 100% in early years to ~96% by 2024. Irrigated area jumped post-2015.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389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Recommendation: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438912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closing the irrigation utilization gap — equipped land is underused, representing major unrealized potential.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Pages — Overview (2 of 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691640" cy="2743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&amp; Agriculture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8686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Temperature vs. Production trend | Annual Rainfall 2000–2024 | Rainfall vs. Yield scatter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Average temperature has gradually risen. Rainfall shows high variability with no clear trend. Rainfall-yield correlation is weak (r = 0.33), suggesting irrigation offsets climate variation.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Develop climate-resilient crop varieties and expand rainwater harvesting to buffer against rainfall volatility.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865376"/>
            <a:ext cx="1691640" cy="2743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8836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Food Security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157984"/>
            <a:ext cx="8686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762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Agricultural Land: 2.8% | CO₂ Emissions trend | Fertilizer Consumption | Production Per Capita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3591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Production grew but per capita production declined after 2010, signaling population growth outpacing food output. CO₂ emissions peaked around 2010. Fertilizer use is relatively stable.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54203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Scale up yield-per-hectare efficiency (not just land area) and monitor emission trends to meet climate commitments.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1691640" cy="2743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443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&amp; Natural Resources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218688"/>
            <a:ext cx="8686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3697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Mean Soil Factor: 20.99 | Min: 0.15 | Max: 131.00 | Soil pH: 5.59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41985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Soil pH averages 5.59 — slightly acidic, which limits nutrient availability for many crops. Organic carbon distribution is uneven across regions. Northern Egypt shows better soil quality.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60273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Apply targeted liming programs to raise pH in acidic zones; invest in organic matter enrichment in deficient regions.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3986784"/>
            <a:ext cx="1691640" cy="2743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0050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Analysis &amp; Prediction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4279392"/>
            <a:ext cx="8686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9768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Slope: 109.42K | Intercept: 35.25M | Corr (Fertilizer–Production): 0.42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44805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Regression model: Expected Production = (109,420 × Fertilizer Use) + 35.25M. Moderate positive correlation confirms fertilizer impact. Scatter shows increasing returns at higher input levels.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the predictive model for annual production forecasting; optimize fertilizer distribution to maximize output per unit applied.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Consolidated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961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" y="923544"/>
            <a:ext cx="1371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93268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0" y="89611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crop portfolio beyond vegetables and strengthen cereals to reduce import dependency.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72184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8132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1508760"/>
            <a:ext cx="1371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51790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Production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0" y="148132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strategic crops (wheat, maize) with targeted subsidies to balance the sugar-heavy production structure.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0665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2093976"/>
            <a:ext cx="1371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1031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206654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irrigation utilization gap — over 80% of equipped land is not being irrigated; this represents enormous unrealized potential.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642616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517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2679192"/>
            <a:ext cx="1371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268833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86000" y="26517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climate-resilient crop varieties and expand rainwater harvesting to buffer against high rainfall volatility.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27832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369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3264408"/>
            <a:ext cx="1371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327355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86000" y="323697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focus from expanding land area to improving yield-per-hectare efficiency, while monitoring CO₂ emissions against climate targets.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13048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8221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8952" y="3849624"/>
            <a:ext cx="1371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385876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286000" y="382219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targeted liming programs to correct acidic soil (avg pH 5.59) and enrich organic carbon in deficient regions.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398264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4074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8952" y="4434840"/>
            <a:ext cx="1371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4439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Model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286000" y="440740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predictive model (Production = 109.42K × Fertilizer + 35.25M) for annual production forecasting and optimize fertilizer distribution.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73152"/>
            <a:ext cx="2743200" cy="507034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Sector Data Analysis  |  2000–2024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2743200"/>
            <a:ext cx="4572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for a sustainable agricultural future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Agricultural Sector Data Analysis</dc:title>
  <dc:subject>PptxGenJS Presentation</dc:subject>
  <dc:creator>PptxGenJS</dc:creator>
  <cp:lastModifiedBy>PptxGenJS</cp:lastModifiedBy>
  <cp:revision>1</cp:revision>
  <dcterms:created xsi:type="dcterms:W3CDTF">2026-03-24T19:29:30Z</dcterms:created>
  <dcterms:modified xsi:type="dcterms:W3CDTF">2026-03-24T19:29:30Z</dcterms:modified>
</cp:coreProperties>
</file>